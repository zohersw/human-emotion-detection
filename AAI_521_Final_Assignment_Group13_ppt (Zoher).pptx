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76" r:id="rId3"/>
    <p:sldId id="257" r:id="rId4"/>
    <p:sldId id="258" r:id="rId5"/>
    <p:sldId id="28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78325F-9A49-4FC6-85DA-25098A1F9999}">
  <a:tblStyle styleId="{4E78325F-9A49-4FC6-85DA-25098A1F99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EFA6793-59BF-4FF1-B977-F5A067A693F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406512-26A2-4F4B-8923-12B786B9364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ab8df74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ab8df746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D1C11F17-0BE6-7339-68FC-82A9F45B7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ab8df7464_0_55:notes">
            <a:extLst>
              <a:ext uri="{FF2B5EF4-FFF2-40B4-BE49-F238E27FC236}">
                <a16:creationId xmlns:a16="http://schemas.microsoft.com/office/drawing/2014/main" id="{DD10D5B8-E04F-E282-1410-93692B171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ab8df7464_0_55:notes">
            <a:extLst>
              <a:ext uri="{FF2B5EF4-FFF2-40B4-BE49-F238E27FC236}">
                <a16:creationId xmlns:a16="http://schemas.microsoft.com/office/drawing/2014/main" id="{647DA869-2BF8-32AA-1DAC-6443612315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5870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ab8df746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ab8df746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ab8df7464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ab8df7464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404F41B8-68F2-B345-8338-68114580E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ab8df7464_0_108:notes">
            <a:extLst>
              <a:ext uri="{FF2B5EF4-FFF2-40B4-BE49-F238E27FC236}">
                <a16:creationId xmlns:a16="http://schemas.microsoft.com/office/drawing/2014/main" id="{2C01FDA6-05B5-1300-33A7-670FE3F3EC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ab8df7464_0_108:notes">
            <a:extLst>
              <a:ext uri="{FF2B5EF4-FFF2-40B4-BE49-F238E27FC236}">
                <a16:creationId xmlns:a16="http://schemas.microsoft.com/office/drawing/2014/main" id="{A9E78B35-3C0A-17C4-86A9-DB97E7D45E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199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6FD29EFD-A4B6-8871-6BCF-A77A3104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ab8df7464_0_55:notes">
            <a:extLst>
              <a:ext uri="{FF2B5EF4-FFF2-40B4-BE49-F238E27FC236}">
                <a16:creationId xmlns:a16="http://schemas.microsoft.com/office/drawing/2014/main" id="{D1ABC928-80C3-B585-D565-75A4E1BDD7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ab8df7464_0_55:notes">
            <a:extLst>
              <a:ext uri="{FF2B5EF4-FFF2-40B4-BE49-F238E27FC236}">
                <a16:creationId xmlns:a16="http://schemas.microsoft.com/office/drawing/2014/main" id="{104B3C62-3B6B-FDB0-72B2-0417F2292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767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F481E37B-939A-67A0-830B-1C4B5369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ab8df7464_0_55:notes">
            <a:extLst>
              <a:ext uri="{FF2B5EF4-FFF2-40B4-BE49-F238E27FC236}">
                <a16:creationId xmlns:a16="http://schemas.microsoft.com/office/drawing/2014/main" id="{73BD4543-7FE9-2526-6A9D-02131F9212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ab8df7464_0_55:notes">
            <a:extLst>
              <a:ext uri="{FF2B5EF4-FFF2-40B4-BE49-F238E27FC236}">
                <a16:creationId xmlns:a16="http://schemas.microsoft.com/office/drawing/2014/main" id="{DCBEEA44-466E-3060-160F-54F3ADADC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023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CE28B49B-5444-7171-4CE1-FD0958459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ab8df7464_0_55:notes">
            <a:extLst>
              <a:ext uri="{FF2B5EF4-FFF2-40B4-BE49-F238E27FC236}">
                <a16:creationId xmlns:a16="http://schemas.microsoft.com/office/drawing/2014/main" id="{B0A44484-5652-974E-91BA-7853E349E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ab8df7464_0_55:notes">
            <a:extLst>
              <a:ext uri="{FF2B5EF4-FFF2-40B4-BE49-F238E27FC236}">
                <a16:creationId xmlns:a16="http://schemas.microsoft.com/office/drawing/2014/main" id="{A0876EC0-53C4-3C64-D737-C1DCE735D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054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DB06BCB1-BB7E-B7FB-DF03-40FCE23BA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ab8df7464_0_55:notes">
            <a:extLst>
              <a:ext uri="{FF2B5EF4-FFF2-40B4-BE49-F238E27FC236}">
                <a16:creationId xmlns:a16="http://schemas.microsoft.com/office/drawing/2014/main" id="{135DF606-9361-6E36-2CCC-073BD94AB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ab8df7464_0_55:notes">
            <a:extLst>
              <a:ext uri="{FF2B5EF4-FFF2-40B4-BE49-F238E27FC236}">
                <a16:creationId xmlns:a16="http://schemas.microsoft.com/office/drawing/2014/main" id="{3FA76B7E-BBB2-21D4-A73D-4F483192A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7178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7A6A0589-DE8C-C660-A2B6-247C751CF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ab8df7464_0_55:notes">
            <a:extLst>
              <a:ext uri="{FF2B5EF4-FFF2-40B4-BE49-F238E27FC236}">
                <a16:creationId xmlns:a16="http://schemas.microsoft.com/office/drawing/2014/main" id="{882BD6E5-80E8-88FF-2E6B-E47EE0C8C7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ab8df7464_0_55:notes">
            <a:extLst>
              <a:ext uri="{FF2B5EF4-FFF2-40B4-BE49-F238E27FC236}">
                <a16:creationId xmlns:a16="http://schemas.microsoft.com/office/drawing/2014/main" id="{4FABC74B-F75E-E572-743E-EC3E7CF79D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236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CDA98A37-5948-A9AF-258D-0B585C8F2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ab8df7464_0_55:notes">
            <a:extLst>
              <a:ext uri="{FF2B5EF4-FFF2-40B4-BE49-F238E27FC236}">
                <a16:creationId xmlns:a16="http://schemas.microsoft.com/office/drawing/2014/main" id="{4E9DC7F0-C2DE-9388-AD84-5506959AD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ab8df7464_0_55:notes">
            <a:extLst>
              <a:ext uri="{FF2B5EF4-FFF2-40B4-BE49-F238E27FC236}">
                <a16:creationId xmlns:a16="http://schemas.microsoft.com/office/drawing/2014/main" id="{E4534DA5-1962-E470-6468-2A0CFB5D7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1524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512AD061-7277-678E-8B88-C9B0DF54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ab8df7464_0_55:notes">
            <a:extLst>
              <a:ext uri="{FF2B5EF4-FFF2-40B4-BE49-F238E27FC236}">
                <a16:creationId xmlns:a16="http://schemas.microsoft.com/office/drawing/2014/main" id="{D6B87310-8EB9-0A62-8F57-5746E7ACE4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ab8df7464_0_55:notes">
            <a:extLst>
              <a:ext uri="{FF2B5EF4-FFF2-40B4-BE49-F238E27FC236}">
                <a16:creationId xmlns:a16="http://schemas.microsoft.com/office/drawing/2014/main" id="{BDA07D92-DD0B-95EF-B7C8-BB875E1E3F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82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DB9972EC-00BE-48A5-4705-FCD4ADF2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ab8df7464_0_307:notes">
            <a:extLst>
              <a:ext uri="{FF2B5EF4-FFF2-40B4-BE49-F238E27FC236}">
                <a16:creationId xmlns:a16="http://schemas.microsoft.com/office/drawing/2014/main" id="{B79598D6-BAF1-BFAF-537C-D85989C958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ab8df7464_0_307:notes">
            <a:extLst>
              <a:ext uri="{FF2B5EF4-FFF2-40B4-BE49-F238E27FC236}">
                <a16:creationId xmlns:a16="http://schemas.microsoft.com/office/drawing/2014/main" id="{674FA02B-5918-EF40-B61F-402798369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515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BDEE2033-2352-AE20-00F3-6119D605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ab8df7464_0_312:notes">
            <a:extLst>
              <a:ext uri="{FF2B5EF4-FFF2-40B4-BE49-F238E27FC236}">
                <a16:creationId xmlns:a16="http://schemas.microsoft.com/office/drawing/2014/main" id="{1FB2E8C7-7A80-0D42-5FC1-94ABAB50AC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ab8df7464_0_312:notes">
            <a:extLst>
              <a:ext uri="{FF2B5EF4-FFF2-40B4-BE49-F238E27FC236}">
                <a16:creationId xmlns:a16="http://schemas.microsoft.com/office/drawing/2014/main" id="{64851CEC-20D1-B3BA-BDAE-8D5278C3C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5275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gadeesh-usd/telecom-customer-churn-prediction.gi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zsabunwala@sandiego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505943" y="930896"/>
            <a:ext cx="4500900" cy="17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00" b="1" dirty="0"/>
              <a:t>Human Facial Emotion Recognition</a:t>
            </a:r>
            <a:endParaRPr sz="2800" b="1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505943" y="2685296"/>
            <a:ext cx="4500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</a:rPr>
              <a:t>Emotion recognition using CNNs</a:t>
            </a:r>
            <a:endParaRPr sz="1800"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1449100" y="3983750"/>
            <a:ext cx="1672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AAI 521 Group 13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42300" y="4292350"/>
            <a:ext cx="30864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Zoher Sabunwala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8</a:t>
            </a:r>
            <a:r>
              <a:rPr lang="en" sz="1200" baseline="30000" dirty="0">
                <a:solidFill>
                  <a:schemeClr val="dk1"/>
                </a:solidFill>
              </a:rPr>
              <a:t>th</a:t>
            </a:r>
            <a:r>
              <a:rPr lang="en" sz="1200" dirty="0">
                <a:solidFill>
                  <a:schemeClr val="dk1"/>
                </a:solidFill>
              </a:rPr>
              <a:t> Dec 2025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3" name="Picture 2" descr="A person with a grid on his face">
            <a:extLst>
              <a:ext uri="{FF2B5EF4-FFF2-40B4-BE49-F238E27FC236}">
                <a16:creationId xmlns:a16="http://schemas.microsoft.com/office/drawing/2014/main" id="{C40B4853-30E6-99A6-50B9-17A34207F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10" y="52039"/>
            <a:ext cx="3680779" cy="39856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5B5727F3-BC13-77CB-56D0-940797BF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B50F3F6F-494A-4D30-FD7B-A0179FE392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Agenda</a:t>
            </a:r>
            <a:endParaRPr b="1" dirty="0"/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57382AE2-916D-174A-F06F-33B061E5EF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724" y="1021578"/>
            <a:ext cx="3255621" cy="3461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200"/>
              </a:spcBef>
              <a:buClr>
                <a:schemeClr val="dk1"/>
              </a:buClr>
            </a:pPr>
            <a:r>
              <a:rPr lang="en-IN" sz="1250" dirty="0">
                <a:solidFill>
                  <a:schemeClr val="dk1"/>
                </a:solidFill>
              </a:rPr>
              <a:t>Introduction to Emotion Recognition</a:t>
            </a:r>
          </a:p>
          <a:p>
            <a:pPr>
              <a:spcBef>
                <a:spcPts val="1200"/>
              </a:spcBef>
              <a:buClr>
                <a:schemeClr val="dk1"/>
              </a:buClr>
            </a:pPr>
            <a:r>
              <a:rPr lang="en-IN" sz="1250" dirty="0">
                <a:solidFill>
                  <a:schemeClr val="dk1"/>
                </a:solidFill>
              </a:rPr>
              <a:t>Dataset Overview</a:t>
            </a:r>
          </a:p>
          <a:p>
            <a:pPr>
              <a:spcBef>
                <a:spcPts val="1200"/>
              </a:spcBef>
              <a:buClr>
                <a:schemeClr val="dk1"/>
              </a:buClr>
            </a:pPr>
            <a:r>
              <a:rPr lang="en-IN" sz="1250" dirty="0">
                <a:solidFill>
                  <a:schemeClr val="dk1"/>
                </a:solidFill>
              </a:rPr>
              <a:t>Data Preprocessing Techniques</a:t>
            </a:r>
          </a:p>
          <a:p>
            <a:pPr>
              <a:spcBef>
                <a:spcPts val="1200"/>
              </a:spcBef>
              <a:buClr>
                <a:schemeClr val="dk1"/>
              </a:buClr>
            </a:pPr>
            <a:r>
              <a:rPr lang="en-IN" sz="1250" dirty="0">
                <a:solidFill>
                  <a:schemeClr val="dk1"/>
                </a:solidFill>
              </a:rPr>
              <a:t>Building the CNN Model</a:t>
            </a:r>
          </a:p>
          <a:p>
            <a:pPr>
              <a:spcBef>
                <a:spcPts val="1200"/>
              </a:spcBef>
              <a:buClr>
                <a:schemeClr val="dk1"/>
              </a:buClr>
            </a:pPr>
            <a:r>
              <a:rPr lang="en-IN" sz="1250" dirty="0">
                <a:solidFill>
                  <a:schemeClr val="dk1"/>
                </a:solidFill>
              </a:rPr>
              <a:t>Training the Model</a:t>
            </a:r>
          </a:p>
          <a:p>
            <a:pPr>
              <a:spcBef>
                <a:spcPts val="1200"/>
              </a:spcBef>
              <a:buClr>
                <a:schemeClr val="dk1"/>
              </a:buClr>
            </a:pPr>
            <a:r>
              <a:rPr lang="en-IN" sz="1250" dirty="0">
                <a:solidFill>
                  <a:schemeClr val="dk1"/>
                </a:solidFill>
              </a:rPr>
              <a:t>Evaluating Model performance</a:t>
            </a:r>
          </a:p>
          <a:p>
            <a:pPr>
              <a:spcBef>
                <a:spcPts val="1200"/>
              </a:spcBef>
              <a:buClr>
                <a:schemeClr val="dk1"/>
              </a:buClr>
            </a:pPr>
            <a:r>
              <a:rPr lang="en-IN" sz="1250" dirty="0">
                <a:solidFill>
                  <a:schemeClr val="dk1"/>
                </a:solidFill>
              </a:rPr>
              <a:t>Fine-tuning the Model</a:t>
            </a:r>
          </a:p>
          <a:p>
            <a:pPr>
              <a:spcBef>
                <a:spcPts val="1200"/>
              </a:spcBef>
              <a:buClr>
                <a:schemeClr val="dk1"/>
              </a:buClr>
            </a:pPr>
            <a:r>
              <a:rPr lang="en-IN" sz="1250" dirty="0">
                <a:solidFill>
                  <a:schemeClr val="dk1"/>
                </a:solidFill>
              </a:rPr>
              <a:t>Conclusion &amp; future work</a:t>
            </a:r>
          </a:p>
        </p:txBody>
      </p:sp>
      <p:pic>
        <p:nvPicPr>
          <p:cNvPr id="3" name="Picture 2" descr="A person touching a screen with icons&#10;&#10;AI-generated content may be incorrect.">
            <a:extLst>
              <a:ext uri="{FF2B5EF4-FFF2-40B4-BE49-F238E27FC236}">
                <a16:creationId xmlns:a16="http://schemas.microsoft.com/office/drawing/2014/main" id="{CD83084F-A0F8-9A25-640C-F3BB782154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3" b="7674"/>
          <a:stretch>
            <a:fillRect/>
          </a:stretch>
        </p:blipFill>
        <p:spPr>
          <a:xfrm>
            <a:off x="3560421" y="1341020"/>
            <a:ext cx="5278779" cy="271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92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Abstract</a:t>
            </a:r>
            <a:endParaRPr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3DD737-DE3F-5948-A648-89CE093037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1340" y="1560370"/>
            <a:ext cx="42672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Classify facial emotions using CNN + transfer learning.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 59,099 images, 5 emotion classes.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Approach: EfficientNetB0 backbone with staged training (warm-up, fine-tuning, extended training).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 Validation accuracy of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86.06%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3" name="Picture 2" descr="A circuit board in the shape of a human head">
            <a:extLst>
              <a:ext uri="{FF2B5EF4-FFF2-40B4-BE49-F238E27FC236}">
                <a16:creationId xmlns:a16="http://schemas.microsoft.com/office/drawing/2014/main" id="{7F55AA1F-6EC4-4094-9B78-CECDE3131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900" y="1313830"/>
            <a:ext cx="4383760" cy="2739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 Project Objective</a:t>
            </a:r>
            <a:endParaRPr b="1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3E249A-7A90-12C8-7079-3CE7A20AE0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0" y="1771530"/>
            <a:ext cx="4010101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robust emotion recognition model.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training time and improve generalization.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emotion-aware systems in healthcare, education, and customer service.</a:t>
            </a:r>
          </a:p>
        </p:txBody>
      </p:sp>
      <p:pic>
        <p:nvPicPr>
          <p:cNvPr id="4" name="Picture 3" descr="A line icons of medical education&#10;&#10;AI-generated content may be incorrect.">
            <a:extLst>
              <a:ext uri="{FF2B5EF4-FFF2-40B4-BE49-F238E27FC236}">
                <a16:creationId xmlns:a16="http://schemas.microsoft.com/office/drawing/2014/main" id="{DDF837FF-FDDA-29E2-13B2-DDA8EF936F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25"/>
          <a:stretch>
            <a:fillRect/>
          </a:stretch>
        </p:blipFill>
        <p:spPr>
          <a:xfrm>
            <a:off x="177605" y="1017725"/>
            <a:ext cx="4394395" cy="34353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DB17DFD6-ECCE-52D4-F6E6-41A7DA679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F18AE03D-1253-3BA5-7F4B-209C65C20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b="1" dirty="0"/>
              <a:t>Dataset Profile</a:t>
            </a:r>
            <a:endParaRPr b="1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2FD9DA-4609-5EEF-BDEB-C434A8A83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97659" y="1537573"/>
            <a:ext cx="42603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images: 59,099.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Classes: Fear (9,732), Surprise (8,227), Angry (10,148), Sad (12,553), Happy (18,439).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 imbalance (Happy overrepresented, Surprise underrepresented).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Preprocessing: resize to 224×224, normalize, augment with flips, rotations, zoom</a:t>
            </a:r>
          </a:p>
        </p:txBody>
      </p:sp>
      <p:pic>
        <p:nvPicPr>
          <p:cNvPr id="6" name="Picture 5" descr="A chart of emotion classes">
            <a:extLst>
              <a:ext uri="{FF2B5EF4-FFF2-40B4-BE49-F238E27FC236}">
                <a16:creationId xmlns:a16="http://schemas.microsoft.com/office/drawing/2014/main" id="{FB5B0660-F181-2C4E-B778-96F155AADD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84"/>
          <a:stretch>
            <a:fillRect/>
          </a:stretch>
        </p:blipFill>
        <p:spPr>
          <a:xfrm>
            <a:off x="311700" y="1167376"/>
            <a:ext cx="4185959" cy="29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46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1B886806-A14C-594C-58F0-75D555BE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B3230F22-BDCD-79CA-675B-B6D9FC52EE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b="1" dirty="0"/>
              <a:t>Importance of Emotion Detection</a:t>
            </a:r>
            <a:endParaRPr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E68EB1-B66C-4B11-283F-E967341C8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5844" y="1664449"/>
            <a:ext cx="477325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Healthcare: monitor mental health, detect distress.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Education: adaptive learning based on student engagement.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service: empathetic responses, improved satisfaction.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Broader impact: more responsive and humane AI systems.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738908-970C-7C24-2931-CAE1C41927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100" y="918046"/>
            <a:ext cx="3659089" cy="4011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1901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086FF4C3-749B-41A6-D373-5654A762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2C9F3A2B-2BBC-DEDB-D8FF-EDA1BE0D97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b="1" dirty="0"/>
              <a:t>Project Setup</a:t>
            </a:r>
            <a:endParaRPr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1E20B3-3962-9AC7-4419-EEBF37153A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5853" y="1138086"/>
            <a:ext cx="476891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Environment: Python + TensorFlow/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GPU (Tesla T4).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 NumPy, Matplotlib, Seaborn, Scikit-learn.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26F1127-51A2-EEFB-2F52-5FD2936CD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4771" y="1138086"/>
            <a:ext cx="39444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Dataset sourced from Kaggle repository.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Reproducibility ensured with random seeds.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FB68324-2F2F-71D3-7DDC-97A8FF396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1977150"/>
            <a:ext cx="8091440" cy="285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415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49C1FE30-28C1-B3FC-88C8-43A747B9D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A39F10A7-FA16-370A-491F-33E5971EFB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b="1" dirty="0"/>
              <a:t>Modelling Methods</a:t>
            </a:r>
            <a:endParaRPr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11CB0B-5707-EBC6-CFA5-5E91F83BAE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5340" y="1087004"/>
            <a:ext cx="426567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Backbone: EfficientNetB0 (pre-trained on ImageNet).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head: GAP → Dense (256,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→ Dropout →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(5 classes).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6F29BD4-7EEB-FD0D-34AC-96B855516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7660" y="1087004"/>
            <a:ext cx="463819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</a:pP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Optimizer: Adam (LR = 1e-3 warm-up, 1e-5 fine-tuning).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</a:pPr>
            <a:endParaRPr lang="en-US" altLang="en-US" sz="1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</a:pP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Loss: categorical </a:t>
            </a:r>
            <a:r>
              <a:rPr lang="en-US" altLang="en-US" sz="1100" dirty="0" err="1">
                <a:solidFill>
                  <a:schemeClr val="tx1"/>
                </a:solidFill>
                <a:latin typeface="Arial" panose="020B0604020202020204" pitchFamily="34" charset="0"/>
              </a:rPr>
              <a:t>crossentropy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</a:pPr>
            <a:endParaRPr lang="en-US" altLang="en-US" sz="1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</a:pP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Callbacks: </a:t>
            </a:r>
            <a:r>
              <a:rPr lang="en-US" altLang="en-US" sz="1100" dirty="0" err="1">
                <a:solidFill>
                  <a:schemeClr val="tx1"/>
                </a:solidFill>
                <a:latin typeface="Arial" panose="020B0604020202020204" pitchFamily="34" charset="0"/>
              </a:rPr>
              <a:t>EarlyStopping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100" dirty="0" err="1">
                <a:solidFill>
                  <a:schemeClr val="tx1"/>
                </a:solidFill>
                <a:latin typeface="Arial" panose="020B0604020202020204" pitchFamily="34" charset="0"/>
              </a:rPr>
              <a:t>ReduceLROnPlateau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100" dirty="0" err="1">
                <a:solidFill>
                  <a:schemeClr val="tx1"/>
                </a:solidFill>
                <a:latin typeface="Arial" panose="020B0604020202020204" pitchFamily="34" charset="0"/>
              </a:rPr>
              <a:t>ModelCheckpoint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100" dirty="0" err="1">
                <a:solidFill>
                  <a:schemeClr val="tx1"/>
                </a:solidFill>
                <a:latin typeface="Arial" panose="020B0604020202020204" pitchFamily="34" charset="0"/>
              </a:rPr>
              <a:t>TensorBoard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7BF3954-2CE2-DF4A-FCCE-444E79C91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2195000"/>
            <a:ext cx="7887631" cy="278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381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42CAA629-7C4D-50D1-00E2-130B600B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D0B18D8B-BDF4-1C77-721B-6529E3F7BE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b="1" dirty="0"/>
              <a:t>Training Strategy</a:t>
            </a:r>
            <a:endParaRPr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39BD57-E4AA-37AC-FEBD-59350DEF4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079280"/>
            <a:ext cx="40806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Warm-up: 5 epochs, frozen base model.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Fine-tuning: 40 epochs, partial unfreezing.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36E9364-92B5-607C-2B79-EAE60FE06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101" y="1079280"/>
            <a:ext cx="46381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Extended training: up to 80 epochs.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Adaptive learning rate scheduling (cosine annealing + plateau reduction).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6A89D8-CAC5-A70D-2130-A6F8DCCEB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5" y="2105790"/>
            <a:ext cx="7591145" cy="281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8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6DE1234E-DA8F-8E68-39CE-440E32E6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1A1EC0CC-FD89-6640-EEB7-DF6E5E7D1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b="1" dirty="0"/>
              <a:t>Results</a:t>
            </a:r>
            <a:endParaRPr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10D1C8-44F1-55F8-D776-39629A6BE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89" y="1556086"/>
            <a:ext cx="414011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Warm-up: accuracy improved from 54.57% → 60.17%.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Fine-tuning: ~70% accuracy by epoch 12.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Extended training: 86.06% validation accuracy at epoch 80.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loss: 0.3646.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797D99-6D6D-8DDD-47FD-84CE8BB84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743879"/>
            <a:ext cx="4874321" cy="36557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4973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13CA943A-5AAF-4C68-B3A5-6825871E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B1648087-F11A-CF71-BD7A-DC6BC1625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b="1" dirty="0"/>
              <a:t>Key Findings</a:t>
            </a:r>
            <a:endParaRPr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1A0D02-4E15-7BB8-9566-61B2FC9A2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89" y="1537494"/>
            <a:ext cx="463819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 learning outperformed training from scratch.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augmentation + dropout reduced overfitting.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learning rate improved convergence.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 distinguishing Fear vs. Surprise due to subtle overlaps.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Future: multimodal fusion (voice, physiology) + edge deployment.</a:t>
            </a:r>
          </a:p>
        </p:txBody>
      </p:sp>
      <p:pic>
        <p:nvPicPr>
          <p:cNvPr id="3" name="Picture 2" descr="A hand holding a key&#10;&#10;AI-generated content may be incorrect.">
            <a:extLst>
              <a:ext uri="{FF2B5EF4-FFF2-40B4-BE49-F238E27FC236}">
                <a16:creationId xmlns:a16="http://schemas.microsoft.com/office/drawing/2014/main" id="{D4107437-7EEA-745E-E47F-C6D235F81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812" y="1537494"/>
            <a:ext cx="4305099" cy="240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795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18C16056-33C0-5712-7739-CA37A8125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4E46887A-7C3C-19E1-5EEF-4EBADE0A86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b="1" dirty="0"/>
              <a:t>Conclusion &amp; Future work</a:t>
            </a:r>
            <a:endParaRPr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AA1F88-85D6-2981-14C7-A061AE2A4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90" y="1448364"/>
            <a:ext cx="463819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+ transfer learning achieved robust emotion recognition.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accuracy: 86.06%.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applications: healthcare, education, customer service.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steps: larger datasets, multimodal approaches, real-time deployment.</a:t>
            </a:r>
          </a:p>
        </p:txBody>
      </p:sp>
      <p:pic>
        <p:nvPicPr>
          <p:cNvPr id="3" name="Picture 2" descr="A person looking through a telescope in a hot air balloon&#10;&#10;AI-generated content may be incorrect.">
            <a:extLst>
              <a:ext uri="{FF2B5EF4-FFF2-40B4-BE49-F238E27FC236}">
                <a16:creationId xmlns:a16="http://schemas.microsoft.com/office/drawing/2014/main" id="{B0995351-BD93-7001-B14C-ECFAD6F826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56" t="3921" r="17175" b="5655"/>
          <a:stretch>
            <a:fillRect/>
          </a:stretch>
        </p:blipFill>
        <p:spPr>
          <a:xfrm>
            <a:off x="4765288" y="1103327"/>
            <a:ext cx="4251622" cy="293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46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08BE5338-479B-C670-F621-1CB3E7746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>
            <a:extLst>
              <a:ext uri="{FF2B5EF4-FFF2-40B4-BE49-F238E27FC236}">
                <a16:creationId xmlns:a16="http://schemas.microsoft.com/office/drawing/2014/main" id="{6EC8F2E2-5D0B-A24E-6330-EA3D49B6B4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Team Contributions</a:t>
            </a:r>
            <a:endParaRPr b="1"/>
          </a:p>
        </p:txBody>
      </p:sp>
      <p:graphicFrame>
        <p:nvGraphicFramePr>
          <p:cNvPr id="190" name="Google Shape;190;p31">
            <a:extLst>
              <a:ext uri="{FF2B5EF4-FFF2-40B4-BE49-F238E27FC236}">
                <a16:creationId xmlns:a16="http://schemas.microsoft.com/office/drawing/2014/main" id="{1755631D-6F0C-D6C8-3CB5-2F12ED4C60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3684627"/>
              </p:ext>
            </p:extLst>
          </p:nvPr>
        </p:nvGraphicFramePr>
        <p:xfrm>
          <a:off x="228600" y="838200"/>
          <a:ext cx="6435726" cy="406674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{5F406512-26A2-4F4B-8923-12B786B93643}</a:tableStyleId>
              </a:tblPr>
              <a:tblGrid>
                <a:gridCol w="2395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0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highlight>
                            <a:srgbClr val="FFFFFF"/>
                          </a:highlight>
                        </a:rPr>
                        <a:t>Task</a:t>
                      </a:r>
                      <a:endParaRPr sz="1100" b="1" dirty="0"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highlight>
                            <a:srgbClr val="FFFFFF"/>
                          </a:highlight>
                        </a:rPr>
                        <a:t>Member 1: (Zoher)</a:t>
                      </a:r>
                      <a:endParaRPr sz="1100" b="1" dirty="0"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ctr">
                    <a:lnL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highlight>
                            <a:srgbClr val="FFFFFF"/>
                          </a:highlight>
                        </a:rPr>
                        <a:t>Data Acquisition &amp; EDA</a:t>
                      </a:r>
                      <a:endParaRPr sz="1100" b="1" dirty="0"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Data preprocessing and cleaning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Exploratory data analysis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Baseline CNN model development</a:t>
                      </a:r>
                    </a:p>
                  </a:txBody>
                  <a:tcPr marL="76200" marR="76200" marT="76200" marB="76200" anchor="ctr">
                    <a:lnL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highlight>
                            <a:srgbClr val="FFFFFF"/>
                          </a:highlight>
                        </a:rPr>
                        <a:t>CNN model &amp; learning Models</a:t>
                      </a:r>
                      <a:endParaRPr sz="1100" b="1" dirty="0"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Baseline CNN model development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Data pipeline preparation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Transfer-learning models (VGG16, </a:t>
                      </a:r>
                      <a:r>
                        <a:rPr lang="en-IN" sz="1100" dirty="0" err="1"/>
                        <a:t>ResNet</a:t>
                      </a:r>
                      <a:r>
                        <a:rPr lang="en-IN" sz="1100" dirty="0"/>
                        <a:t>)</a:t>
                      </a:r>
                    </a:p>
                  </a:txBody>
                  <a:tcPr marL="76200" marR="76200" marT="76200" marB="76200" anchor="ctr">
                    <a:lnL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highlight>
                            <a:srgbClr val="FFFFFF"/>
                          </a:highlight>
                        </a:rPr>
                        <a:t>Tuning &amp; Performance evaluation</a:t>
                      </a:r>
                      <a:endParaRPr sz="1100" b="1" dirty="0"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Hyperparameter tuning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Performance evaluation and metrics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Documentation of experiments</a:t>
                      </a:r>
                    </a:p>
                  </a:txBody>
                  <a:tcPr marL="76200" marR="76200" marT="76200" marB="76200" anchor="ctr">
                    <a:lnL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highlight>
                            <a:srgbClr val="FFFFFF"/>
                          </a:highlight>
                        </a:rPr>
                        <a:t>Model deployment &amp; Reporting</a:t>
                      </a:r>
                      <a:endParaRPr sz="1100" b="1" dirty="0"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Model deployment (Flask/</a:t>
                      </a:r>
                      <a:r>
                        <a:rPr lang="en-US" sz="1100" dirty="0" err="1"/>
                        <a:t>Streamlit</a:t>
                      </a:r>
                      <a:r>
                        <a:rPr lang="en-US" sz="1100" dirty="0"/>
                        <a:t>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Visualization dashboards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Report writing and presentation</a:t>
                      </a:r>
                    </a:p>
                  </a:txBody>
                  <a:tcPr marL="76200" marR="76200" marT="76200" marB="76200" anchor="ctr">
                    <a:lnL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highlight>
                            <a:srgbClr val="FFFFFF"/>
                          </a:highlight>
                        </a:rPr>
                        <a:t>Presentation &amp; Code Submission</a:t>
                      </a:r>
                      <a:endParaRPr sz="1100" b="1"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highlight>
                            <a:srgbClr val="FFFFFF"/>
                          </a:highlight>
                        </a:rPr>
                        <a:t>Prepare slides for methodology, discussion &amp; evaluation code.</a:t>
                      </a:r>
                      <a:endParaRPr sz="1100" dirty="0"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ctr">
                    <a:lnL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072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04618682-4549-205C-781F-7019FB9B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>
            <a:extLst>
              <a:ext uri="{FF2B5EF4-FFF2-40B4-BE49-F238E27FC236}">
                <a16:creationId xmlns:a16="http://schemas.microsoft.com/office/drawing/2014/main" id="{16B06512-B0E9-FEC3-8B8D-C4BA83375D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Thank You</a:t>
            </a:r>
            <a:endParaRPr b="1"/>
          </a:p>
        </p:txBody>
      </p:sp>
      <p:sp>
        <p:nvSpPr>
          <p:cNvPr id="196" name="Google Shape;196;p32">
            <a:extLst>
              <a:ext uri="{FF2B5EF4-FFF2-40B4-BE49-F238E27FC236}">
                <a16:creationId xmlns:a16="http://schemas.microsoft.com/office/drawing/2014/main" id="{FF9596E5-9A8E-75CC-BA6C-0D194B0E0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298450"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100" dirty="0">
                <a:solidFill>
                  <a:schemeClr val="dk1"/>
                </a:solidFill>
              </a:rPr>
              <a:t>GitHub :</a:t>
            </a:r>
            <a:r>
              <a:rPr lang="en" sz="1100" dirty="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IN" sz="1100" u="sng" dirty="0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https://github.com/ZoherSW/Human-emotion-detection</a:t>
            </a:r>
            <a:br>
              <a:rPr lang="en" sz="1100" u="sng" dirty="0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100" u="sng" dirty="0">
              <a:solidFill>
                <a:srgbClr val="1155CC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Contact : </a:t>
            </a:r>
            <a:r>
              <a:rPr lang="en" sz="1000" u="sng" dirty="0">
                <a:solidFill>
                  <a:srgbClr val="1155CC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zsabunwala@sandiego.edu</a:t>
            </a:r>
            <a:endParaRPr sz="11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08352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573</Words>
  <Application>Microsoft Office PowerPoint</Application>
  <PresentationFormat>On-screen Show (16:9)</PresentationFormat>
  <Paragraphs>117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Human Facial Emotion Recognition</vt:lpstr>
      <vt:lpstr>Agenda</vt:lpstr>
      <vt:lpstr>Abstract</vt:lpstr>
      <vt:lpstr> Project Objective</vt:lpstr>
      <vt:lpstr>Dataset Profile</vt:lpstr>
      <vt:lpstr>Importance of Emotion Detection</vt:lpstr>
      <vt:lpstr>Project Setup</vt:lpstr>
      <vt:lpstr>Modelling Methods</vt:lpstr>
      <vt:lpstr>Training Strategy</vt:lpstr>
      <vt:lpstr>Results</vt:lpstr>
      <vt:lpstr>Key Findings</vt:lpstr>
      <vt:lpstr>Conclusion &amp; Future work</vt:lpstr>
      <vt:lpstr>Team Contributions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Zoher Sabunwala</cp:lastModifiedBy>
  <cp:revision>79</cp:revision>
  <dcterms:modified xsi:type="dcterms:W3CDTF">2025-12-08T18:00:15Z</dcterms:modified>
</cp:coreProperties>
</file>